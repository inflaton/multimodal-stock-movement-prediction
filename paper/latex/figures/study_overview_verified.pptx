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2" r:id="rId2"/>
    <p:sldId id="265" r:id="rId3"/>
    <p:sldId id="266" r:id="rId4"/>
    <p:sldId id="264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16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06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4B2A-1A3C-94DC-314B-02C820E6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FD13C-99B8-285D-69CB-3763F143F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02000-1C6B-A4B0-E631-1338923DE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12710-84AF-B373-0E98-9E113C352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657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FEB2D-D66A-220E-8299-30D8B7E5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C205E-2873-6E82-19CF-3D493F7CF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483D6-4593-2013-6FEB-50E98D2D3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A3016-4060-86A0-CEB9-02A160C39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20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8EA7-9A18-FD0F-1984-B7A083AC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E9791-F72F-B276-4F83-3F31AF957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F12BF-E7A9-EE1A-4DD6-F622AB21B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D8CF7-620F-66CA-80A5-2EC78321B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848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D87B8-6E63-63A2-074A-D6FF053D641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8425" y="63500"/>
            <a:ext cx="13557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SMU Classification: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35CEAB-2970-8F49-9A25-5BB9C00D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9EB70DD-6FFF-0646-C7DC-8DB1F2A1C210}"/>
              </a:ext>
            </a:extLst>
          </p:cNvPr>
          <p:cNvSpPr/>
          <p:nvPr/>
        </p:nvSpPr>
        <p:spPr>
          <a:xfrm>
            <a:off x="126175" y="223520"/>
            <a:ext cx="11933745" cy="3289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46A72A-F6B3-4994-3DC9-9B93A11C05D4}"/>
              </a:ext>
            </a:extLst>
          </p:cNvPr>
          <p:cNvSpPr/>
          <p:nvPr/>
        </p:nvSpPr>
        <p:spPr>
          <a:xfrm>
            <a:off x="307163" y="646481"/>
            <a:ext cx="1714499" cy="2698264"/>
          </a:xfrm>
          <a:prstGeom prst="roundRect">
            <a:avLst>
              <a:gd name="adj" fmla="val 7778"/>
            </a:avLst>
          </a:prstGeom>
          <a:solidFill>
            <a:schemeClr val="accent5">
              <a:lumMod val="40000"/>
              <a:lumOff val="6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EF71AEA9-8E28-891C-7E0A-C3BC41C9DF8A}"/>
              </a:ext>
            </a:extLst>
          </p:cNvPr>
          <p:cNvSpPr/>
          <p:nvPr/>
        </p:nvSpPr>
        <p:spPr>
          <a:xfrm>
            <a:off x="397212" y="776820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Data Collection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A752D0A-4E64-495C-90BA-ABE0A8777055}"/>
              </a:ext>
            </a:extLst>
          </p:cNvPr>
          <p:cNvSpPr/>
          <p:nvPr/>
        </p:nvSpPr>
        <p:spPr>
          <a:xfrm>
            <a:off x="397213" y="1728962"/>
            <a:ext cx="1521900" cy="6957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E39C670C-A1DA-2817-958F-EE7192DB964B}"/>
              </a:ext>
            </a:extLst>
          </p:cNvPr>
          <p:cNvSpPr/>
          <p:nvPr/>
        </p:nvSpPr>
        <p:spPr>
          <a:xfrm>
            <a:off x="395443" y="1800152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6B401EF9-1523-1FD8-BCC8-7BDB36420288}"/>
              </a:ext>
            </a:extLst>
          </p:cNvPr>
          <p:cNvSpPr/>
          <p:nvPr/>
        </p:nvSpPr>
        <p:spPr>
          <a:xfrm>
            <a:off x="395443" y="2033714"/>
            <a:ext cx="1515619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(WSB, Stocks), StockTwits, Twitter/X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3C8DAD0-1640-E7DD-757C-1EAA0A6C13AF}"/>
              </a:ext>
            </a:extLst>
          </p:cNvPr>
          <p:cNvSpPr/>
          <p:nvPr/>
        </p:nvSpPr>
        <p:spPr>
          <a:xfrm>
            <a:off x="389162" y="2500367"/>
            <a:ext cx="1521900" cy="6902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3408BEED-0308-17AA-8E58-4202B497DBAF}"/>
              </a:ext>
            </a:extLst>
          </p:cNvPr>
          <p:cNvSpPr/>
          <p:nvPr/>
        </p:nvSpPr>
        <p:spPr>
          <a:xfrm>
            <a:off x="387392" y="2571556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Data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B816321F-FBB1-88ED-5CA3-5A22D69414F1}"/>
              </a:ext>
            </a:extLst>
          </p:cNvPr>
          <p:cNvSpPr/>
          <p:nvPr/>
        </p:nvSpPr>
        <p:spPr>
          <a:xfrm>
            <a:off x="387392" y="2805118"/>
            <a:ext cx="1515619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 OHLCV (2020-2024)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4B54EA0-5B4B-AD05-CBEC-85C31BE9FF2E}"/>
              </a:ext>
            </a:extLst>
          </p:cNvPr>
          <p:cNvSpPr/>
          <p:nvPr/>
        </p:nvSpPr>
        <p:spPr>
          <a:xfrm>
            <a:off x="397213" y="992106"/>
            <a:ext cx="1521900" cy="6902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53D6AB08-C78F-8E9C-7C96-BCD36BDAD440}"/>
              </a:ext>
            </a:extLst>
          </p:cNvPr>
          <p:cNvSpPr/>
          <p:nvPr/>
        </p:nvSpPr>
        <p:spPr>
          <a:xfrm>
            <a:off x="395443" y="1043471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News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4">
            <a:extLst>
              <a:ext uri="{FF2B5EF4-FFF2-40B4-BE49-F238E27FC236}">
                <a16:creationId xmlns:a16="http://schemas.microsoft.com/office/drawing/2014/main" id="{95F123ED-B5B5-0247-753A-CB41FD011206}"/>
              </a:ext>
            </a:extLst>
          </p:cNvPr>
          <p:cNvSpPr/>
          <p:nvPr/>
        </p:nvSpPr>
        <p:spPr>
          <a:xfrm>
            <a:off x="464335" y="1277033"/>
            <a:ext cx="1377835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Kaggle, MarketWatch, Google Search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5E83DB4-B013-CF1A-5CFA-007234843435}"/>
              </a:ext>
            </a:extLst>
          </p:cNvPr>
          <p:cNvSpPr/>
          <p:nvPr/>
        </p:nvSpPr>
        <p:spPr>
          <a:xfrm>
            <a:off x="2623702" y="2113240"/>
            <a:ext cx="158038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FinBERT-Tone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8625894D-8C79-9111-CCCB-09A01E5AE4D9}"/>
              </a:ext>
            </a:extLst>
          </p:cNvPr>
          <p:cNvSpPr/>
          <p:nvPr/>
        </p:nvSpPr>
        <p:spPr>
          <a:xfrm>
            <a:off x="2623702" y="2700073"/>
            <a:ext cx="1580388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169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2BF0A1-ED0F-7F4C-12CE-9370D18A1527}"/>
              </a:ext>
            </a:extLst>
          </p:cNvPr>
          <p:cNvSpPr/>
          <p:nvPr/>
        </p:nvSpPr>
        <p:spPr>
          <a:xfrm>
            <a:off x="2359795" y="646483"/>
            <a:ext cx="1970407" cy="2698264"/>
          </a:xfrm>
          <a:prstGeom prst="roundRect">
            <a:avLst>
              <a:gd name="adj" fmla="val 7639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D2B609-D71D-44AC-CF9A-63D8CB974EAE}"/>
              </a:ext>
            </a:extLst>
          </p:cNvPr>
          <p:cNvSpPr/>
          <p:nvPr/>
        </p:nvSpPr>
        <p:spPr>
          <a:xfrm>
            <a:off x="2461395" y="776819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Feature Extraction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6ADF48-B2D9-04B6-A2A4-D47D4E6952C6}"/>
              </a:ext>
            </a:extLst>
          </p:cNvPr>
          <p:cNvSpPr/>
          <p:nvPr/>
        </p:nvSpPr>
        <p:spPr>
          <a:xfrm>
            <a:off x="2493280" y="1087936"/>
            <a:ext cx="1673648" cy="9073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92E2A8A-34D9-2553-B13C-25E0C33E09E9}"/>
              </a:ext>
            </a:extLst>
          </p:cNvPr>
          <p:cNvSpPr/>
          <p:nvPr/>
        </p:nvSpPr>
        <p:spPr>
          <a:xfrm>
            <a:off x="2658776" y="1156404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FinBERT-Tone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52BA22A-E087-87C1-F913-486D2AA70226}"/>
              </a:ext>
            </a:extLst>
          </p:cNvPr>
          <p:cNvSpPr/>
          <p:nvPr/>
        </p:nvSpPr>
        <p:spPr>
          <a:xfrm>
            <a:off x="2727668" y="1472249"/>
            <a:ext cx="1377835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[-1, +1]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24E20B-0CB6-C565-ED80-038F9EF389F2}"/>
              </a:ext>
            </a:extLst>
          </p:cNvPr>
          <p:cNvSpPr/>
          <p:nvPr/>
        </p:nvSpPr>
        <p:spPr>
          <a:xfrm>
            <a:off x="2512680" y="2248309"/>
            <a:ext cx="1673649" cy="9685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2F79B2B-E795-4590-00D8-641D2F4A0691}"/>
              </a:ext>
            </a:extLst>
          </p:cNvPr>
          <p:cNvSpPr/>
          <p:nvPr/>
        </p:nvSpPr>
        <p:spPr>
          <a:xfrm>
            <a:off x="2670709" y="2360758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Indicators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E123C36-84D2-58BD-C0E9-4D32742AFB08}"/>
              </a:ext>
            </a:extLst>
          </p:cNvPr>
          <p:cNvSpPr/>
          <p:nvPr/>
        </p:nvSpPr>
        <p:spPr>
          <a:xfrm>
            <a:off x="2594930" y="2656101"/>
            <a:ext cx="1667180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r>
              <a:rPr lang="en-US" sz="1067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Pairs</a:t>
            </a:r>
            <a:endParaRPr lang="en-US" sz="1067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EMA, SMA, MACD, RSI</a:t>
            </a:r>
          </a:p>
          <a:p>
            <a:pPr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Buy/Sell/Hold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defRPr/>
            </a:pPr>
            <a:endParaRPr lang="en-US" sz="1067" dirty="0">
              <a:solidFill>
                <a:prstClr val="black"/>
              </a:solidFill>
            </a:endParaRPr>
          </a:p>
          <a:p>
            <a:pPr lvl="0" algn="ctr">
              <a:defRPr/>
            </a:pP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9CD95057-DDF5-30A0-6259-80EC45136A5A}"/>
              </a:ext>
            </a:extLst>
          </p:cNvPr>
          <p:cNvSpPr/>
          <p:nvPr/>
        </p:nvSpPr>
        <p:spPr>
          <a:xfrm>
            <a:off x="4918996" y="1605240"/>
            <a:ext cx="18135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FUSION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732787A9-CB2B-9589-2672-E6DAD950CE3D}"/>
              </a:ext>
            </a:extLst>
          </p:cNvPr>
          <p:cNvSpPr/>
          <p:nvPr/>
        </p:nvSpPr>
        <p:spPr>
          <a:xfrm>
            <a:off x="5082572" y="2113241"/>
            <a:ext cx="1450848" cy="39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Aggregation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450ED623-F8E5-43DF-94B3-4186DB5DF6D8}"/>
              </a:ext>
            </a:extLst>
          </p:cNvPr>
          <p:cNvSpPr/>
          <p:nvPr/>
        </p:nvSpPr>
        <p:spPr>
          <a:xfrm>
            <a:off x="4936776" y="2946335"/>
            <a:ext cx="1778000" cy="29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ts val="1040"/>
              </a:lnSpc>
              <a:spcBef>
                <a:spcPts val="400"/>
              </a:spcBef>
              <a:defRPr/>
            </a:pPr>
            <a:r>
              <a:rPr lang="en-US" sz="1200" dirty="0">
                <a:solidFill>
                  <a:prstClr val="black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 = 0.7*News + 0.3*Social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2D2F4C2C-3A98-2C23-48D6-47EBF8E4E251}"/>
              </a:ext>
            </a:extLst>
          </p:cNvPr>
          <p:cNvSpPr/>
          <p:nvPr/>
        </p:nvSpPr>
        <p:spPr>
          <a:xfrm>
            <a:off x="4647583" y="646483"/>
            <a:ext cx="2132312" cy="2698264"/>
          </a:xfrm>
          <a:prstGeom prst="roundRect">
            <a:avLst>
              <a:gd name="adj" fmla="val 8827"/>
            </a:avLst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2F9C0E88-CA69-2215-60CB-AEE2C0E96195}"/>
              </a:ext>
            </a:extLst>
          </p:cNvPr>
          <p:cNvSpPr/>
          <p:nvPr/>
        </p:nvSpPr>
        <p:spPr>
          <a:xfrm>
            <a:off x="4851705" y="776819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Fusion with a </a:t>
            </a:r>
            <a:r>
              <a:rPr lang="en-US" sz="1333" b="1" dirty="0"/>
              <a:t>Learnable Weight</a:t>
            </a:r>
            <a:r>
              <a:rPr lang="en-US" sz="1333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33" b="1" dirty="0">
              <a:solidFill>
                <a:prstClr val="black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1C8746A-290D-A3F0-7986-B992045B7817}"/>
              </a:ext>
            </a:extLst>
          </p:cNvPr>
          <p:cNvSpPr/>
          <p:nvPr/>
        </p:nvSpPr>
        <p:spPr>
          <a:xfrm>
            <a:off x="4783114" y="1192134"/>
            <a:ext cx="1876393" cy="6943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3B9C539-7587-F16C-535D-AD54670EB070}"/>
              </a:ext>
            </a:extLst>
          </p:cNvPr>
          <p:cNvSpPr/>
          <p:nvPr/>
        </p:nvSpPr>
        <p:spPr>
          <a:xfrm>
            <a:off x="4783114" y="2346332"/>
            <a:ext cx="1876393" cy="768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85" name="Text 3">
            <a:extLst>
              <a:ext uri="{FF2B5EF4-FFF2-40B4-BE49-F238E27FC236}">
                <a16:creationId xmlns:a16="http://schemas.microsoft.com/office/drawing/2014/main" id="{9AE58F2D-E096-C53B-F093-8286E2330E01}"/>
              </a:ext>
            </a:extLst>
          </p:cNvPr>
          <p:cNvSpPr/>
          <p:nvPr/>
        </p:nvSpPr>
        <p:spPr>
          <a:xfrm>
            <a:off x="5002195" y="2414041"/>
            <a:ext cx="1515619" cy="17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Concatenation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25940AF1-BC50-5650-C6A8-149AE48F1A4B}"/>
              </a:ext>
            </a:extLst>
          </p:cNvPr>
          <p:cNvSpPr/>
          <p:nvPr/>
        </p:nvSpPr>
        <p:spPr>
          <a:xfrm>
            <a:off x="4871658" y="2697476"/>
            <a:ext cx="166718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400"/>
              </a:spcBef>
              <a:defRPr/>
            </a:pPr>
            <a:r>
              <a:rPr lang="en-US" sz="1067" dirty="0">
                <a:solidFill>
                  <a:prstClr val="black"/>
                </a:solidFill>
                <a:latin typeface="Arial" panose="020B0604020202020204" pitchFamily="34" charset="0"/>
                <a:ea typeface="monospace" pitchFamily="34" charset="-122"/>
                <a:cs typeface="Arial" panose="020B0604020202020204" pitchFamily="34" charset="0"/>
              </a:rPr>
              <a:t>z = [Tech || Sentiment]</a:t>
            </a:r>
          </a:p>
          <a:p>
            <a:pPr algn="ctr">
              <a:spcBef>
                <a:spcPts val="400"/>
              </a:spcBef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multimodal features</a:t>
            </a:r>
            <a:endParaRPr lang="en-US" sz="1067" dirty="0">
              <a:solidFill>
                <a:prstClr val="black"/>
              </a:solidFill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6372CC3-F4C1-3E42-BA90-D52F8EEED07D}"/>
              </a:ext>
            </a:extLst>
          </p:cNvPr>
          <p:cNvCxnSpPr>
            <a:cxnSpLocks/>
            <a:stCxn id="81" idx="2"/>
            <a:endCxn id="84" idx="0"/>
          </p:cNvCxnSpPr>
          <p:nvPr/>
        </p:nvCxnSpPr>
        <p:spPr>
          <a:xfrm>
            <a:off x="5721311" y="1886514"/>
            <a:ext cx="0" cy="4598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 39">
            <a:extLst>
              <a:ext uri="{FF2B5EF4-FFF2-40B4-BE49-F238E27FC236}">
                <a16:creationId xmlns:a16="http://schemas.microsoft.com/office/drawing/2014/main" id="{BDA88B58-DF0F-A202-67CC-24A3C3AF8F3C}"/>
              </a:ext>
            </a:extLst>
          </p:cNvPr>
          <p:cNvSpPr/>
          <p:nvPr/>
        </p:nvSpPr>
        <p:spPr>
          <a:xfrm>
            <a:off x="10176127" y="2113240"/>
            <a:ext cx="1386077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Prediction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0">
            <a:extLst>
              <a:ext uri="{FF2B5EF4-FFF2-40B4-BE49-F238E27FC236}">
                <a16:creationId xmlns:a16="http://schemas.microsoft.com/office/drawing/2014/main" id="{984E8022-85FB-C3C6-C980-DD2EDED4FE2D}"/>
              </a:ext>
            </a:extLst>
          </p:cNvPr>
          <p:cNvSpPr/>
          <p:nvPr/>
        </p:nvSpPr>
        <p:spPr>
          <a:xfrm>
            <a:off x="10176127" y="2694851"/>
            <a:ext cx="1386077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169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Direction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1668E3F-66D0-59D5-6A69-D609137E9045}"/>
              </a:ext>
            </a:extLst>
          </p:cNvPr>
          <p:cNvSpPr/>
          <p:nvPr/>
        </p:nvSpPr>
        <p:spPr>
          <a:xfrm>
            <a:off x="9851434" y="646481"/>
            <a:ext cx="2035465" cy="2698264"/>
          </a:xfrm>
          <a:prstGeom prst="roundRect">
            <a:avLst>
              <a:gd name="adj" fmla="val 7147"/>
            </a:avLst>
          </a:prstGeom>
          <a:solidFill>
            <a:srgbClr val="FFCDCD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122" name="Text 3">
            <a:extLst>
              <a:ext uri="{FF2B5EF4-FFF2-40B4-BE49-F238E27FC236}">
                <a16:creationId xmlns:a16="http://schemas.microsoft.com/office/drawing/2014/main" id="{B5C6289F-A2A4-2F24-E5B5-CC0B2C287BB3}"/>
              </a:ext>
            </a:extLst>
          </p:cNvPr>
          <p:cNvSpPr/>
          <p:nvPr/>
        </p:nvSpPr>
        <p:spPr>
          <a:xfrm>
            <a:off x="9928740" y="771318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Trading Simulation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0F52DBA-0B72-4C07-A532-C645AD09DAFF}"/>
              </a:ext>
            </a:extLst>
          </p:cNvPr>
          <p:cNvSpPr/>
          <p:nvPr/>
        </p:nvSpPr>
        <p:spPr>
          <a:xfrm>
            <a:off x="9975473" y="1043471"/>
            <a:ext cx="1787384" cy="2070893"/>
          </a:xfrm>
          <a:prstGeom prst="roundRect">
            <a:avLst>
              <a:gd name="adj" fmla="val 1133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29" name="Text 3">
            <a:extLst>
              <a:ext uri="{FF2B5EF4-FFF2-40B4-BE49-F238E27FC236}">
                <a16:creationId xmlns:a16="http://schemas.microsoft.com/office/drawing/2014/main" id="{6BD92E9D-3F32-B4B3-DF30-C7FF21B60474}"/>
              </a:ext>
            </a:extLst>
          </p:cNvPr>
          <p:cNvSpPr/>
          <p:nvPr/>
        </p:nvSpPr>
        <p:spPr>
          <a:xfrm>
            <a:off x="10035577" y="1118333"/>
            <a:ext cx="1667180" cy="17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Direction Prediction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" name="Text 4">
            <a:extLst>
              <a:ext uri="{FF2B5EF4-FFF2-40B4-BE49-F238E27FC236}">
                <a16:creationId xmlns:a16="http://schemas.microsoft.com/office/drawing/2014/main" id="{42F9BB1D-E047-6FC5-22BF-973835FDEB49}"/>
              </a:ext>
            </a:extLst>
          </p:cNvPr>
          <p:cNvSpPr/>
          <p:nvPr/>
        </p:nvSpPr>
        <p:spPr>
          <a:xfrm>
            <a:off x="10111356" y="1296025"/>
            <a:ext cx="1515619" cy="177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Horizon (</a:t>
            </a:r>
            <a:r>
              <a:rPr lang="en-US" sz="1067" i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</a:t>
            </a: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): 2-10 days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Metrics: Accuracy, AUC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b="1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</a:t>
            </a:r>
            <a:endParaRPr lang="en-US" sz="1067" b="1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Long/short strategy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Non-overlapping trades</a:t>
            </a:r>
            <a:endParaRPr lang="en-US" sz="1067" dirty="0">
              <a:solidFill>
                <a:prstClr val="black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Hold for </a:t>
            </a:r>
            <a:r>
              <a:rPr lang="en-US" sz="1067" i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 </a:t>
            </a: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days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Fees: 10 bps round-trip</a:t>
            </a:r>
            <a:endParaRPr lang="en-US" sz="10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Metrics: Number of Trades, Win Rate, Sharpe Ratio</a:t>
            </a: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A1158D3-8E4C-73A7-AF74-A43A1567901C}"/>
              </a:ext>
            </a:extLst>
          </p:cNvPr>
          <p:cNvCxnSpPr>
            <a:cxnSpLocks/>
            <a:stCxn id="60" idx="3"/>
            <a:endCxn id="13" idx="1"/>
          </p:cNvCxnSpPr>
          <p:nvPr/>
        </p:nvCxnSpPr>
        <p:spPr>
          <a:xfrm flipV="1">
            <a:off x="1903011" y="2732575"/>
            <a:ext cx="609668" cy="220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CAF7600-F6ED-F227-C925-FDE9774F4E2C}"/>
              </a:ext>
            </a:extLst>
          </p:cNvPr>
          <p:cNvCxnSpPr>
            <a:cxnSpLocks/>
            <a:stCxn id="72" idx="3"/>
            <a:endCxn id="10" idx="1"/>
          </p:cNvCxnSpPr>
          <p:nvPr/>
        </p:nvCxnSpPr>
        <p:spPr>
          <a:xfrm>
            <a:off x="1919113" y="1337240"/>
            <a:ext cx="574167" cy="20437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915ADE9F-AE2A-E0CA-140E-08482D9E287F}"/>
              </a:ext>
            </a:extLst>
          </p:cNvPr>
          <p:cNvCxnSpPr>
            <a:cxnSpLocks/>
            <a:stCxn id="42" idx="3"/>
            <a:endCxn id="10" idx="1"/>
          </p:cNvCxnSpPr>
          <p:nvPr/>
        </p:nvCxnSpPr>
        <p:spPr>
          <a:xfrm flipV="1">
            <a:off x="1919113" y="1541613"/>
            <a:ext cx="574167" cy="53523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B404785-BA4E-F3F0-664A-6E060CAA1E0C}"/>
              </a:ext>
            </a:extLst>
          </p:cNvPr>
          <p:cNvCxnSpPr>
            <a:cxnSpLocks/>
            <a:stCxn id="13" idx="3"/>
            <a:endCxn id="84" idx="1"/>
          </p:cNvCxnSpPr>
          <p:nvPr/>
        </p:nvCxnSpPr>
        <p:spPr>
          <a:xfrm flipV="1">
            <a:off x="4186329" y="2730348"/>
            <a:ext cx="596785" cy="22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D3FFF78-2EAC-D713-28D6-EE6DBCB08CF3}"/>
              </a:ext>
            </a:extLst>
          </p:cNvPr>
          <p:cNvCxnSpPr>
            <a:cxnSpLocks/>
            <a:stCxn id="10" idx="3"/>
            <a:endCxn id="81" idx="1"/>
          </p:cNvCxnSpPr>
          <p:nvPr/>
        </p:nvCxnSpPr>
        <p:spPr>
          <a:xfrm flipV="1">
            <a:off x="4166928" y="1539324"/>
            <a:ext cx="616186" cy="22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 28">
            <a:extLst>
              <a:ext uri="{FF2B5EF4-FFF2-40B4-BE49-F238E27FC236}">
                <a16:creationId xmlns:a16="http://schemas.microsoft.com/office/drawing/2014/main" id="{4C785D5B-FE19-800C-C95A-24253B4C7603}"/>
              </a:ext>
            </a:extLst>
          </p:cNvPr>
          <p:cNvSpPr/>
          <p:nvPr/>
        </p:nvSpPr>
        <p:spPr>
          <a:xfrm>
            <a:off x="7408883" y="1290341"/>
            <a:ext cx="1813560" cy="177800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MODELS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7893EB99-57CC-4468-BBF5-8524AD4A3F2D}"/>
              </a:ext>
            </a:extLst>
          </p:cNvPr>
          <p:cNvSpPr/>
          <p:nvPr/>
        </p:nvSpPr>
        <p:spPr>
          <a:xfrm>
            <a:off x="7590239" y="1798340"/>
            <a:ext cx="1450848" cy="195461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048C633E-FEDB-4853-8A53-5FE47574CA30}"/>
              </a:ext>
            </a:extLst>
          </p:cNvPr>
          <p:cNvSpPr/>
          <p:nvPr/>
        </p:nvSpPr>
        <p:spPr>
          <a:xfrm>
            <a:off x="7328081" y="2848859"/>
            <a:ext cx="1975167" cy="177800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EA97E13-9683-B830-368C-6F266A93284D}"/>
              </a:ext>
            </a:extLst>
          </p:cNvPr>
          <p:cNvSpPr/>
          <p:nvPr/>
        </p:nvSpPr>
        <p:spPr>
          <a:xfrm>
            <a:off x="7138095" y="652145"/>
            <a:ext cx="2395271" cy="2690792"/>
          </a:xfrm>
          <a:prstGeom prst="roundRect">
            <a:avLst>
              <a:gd name="adj" fmla="val 7147"/>
            </a:avLst>
          </a:prstGeom>
          <a:solidFill>
            <a:srgbClr val="D7CDFF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109" name="Text 3">
            <a:extLst>
              <a:ext uri="{FF2B5EF4-FFF2-40B4-BE49-F238E27FC236}">
                <a16:creationId xmlns:a16="http://schemas.microsoft.com/office/drawing/2014/main" id="{70FF58AA-C51C-E91E-5858-E9B46EC0D816}"/>
              </a:ext>
            </a:extLst>
          </p:cNvPr>
          <p:cNvSpPr/>
          <p:nvPr/>
        </p:nvSpPr>
        <p:spPr>
          <a:xfrm>
            <a:off x="7341592" y="747821"/>
            <a:ext cx="1880851" cy="195463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Models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F21BA23B-9873-F0DA-1E74-C3AD69E4EF72}"/>
              </a:ext>
            </a:extLst>
          </p:cNvPr>
          <p:cNvSpPr/>
          <p:nvPr/>
        </p:nvSpPr>
        <p:spPr>
          <a:xfrm>
            <a:off x="7218139" y="1012254"/>
            <a:ext cx="2198963" cy="2244559"/>
          </a:xfrm>
          <a:prstGeom prst="roundRect">
            <a:avLst>
              <a:gd name="adj" fmla="val 5234"/>
            </a:avLst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12" name="Text 4">
            <a:extLst>
              <a:ext uri="{FF2B5EF4-FFF2-40B4-BE49-F238E27FC236}">
                <a16:creationId xmlns:a16="http://schemas.microsoft.com/office/drawing/2014/main" id="{CE846B4E-BAC4-9904-AE12-AA361C0080D3}"/>
              </a:ext>
            </a:extLst>
          </p:cNvPr>
          <p:cNvSpPr/>
          <p:nvPr/>
        </p:nvSpPr>
        <p:spPr>
          <a:xfrm>
            <a:off x="7196103" y="1126030"/>
            <a:ext cx="2279253" cy="2244559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1540"/>
              </a:lnSpc>
              <a:spcBef>
                <a:spcPts val="800"/>
              </a:spcBef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7 ML Families: 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Short-Term Memory (LSTM) Random Forest (RF)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(XGB)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(LGBM)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(GB)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(LR)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 (SVM)</a:t>
            </a:r>
            <a:endParaRPr lang="en-US" sz="133" b="1" dirty="0">
              <a:solidFill>
                <a:prstClr val="black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540"/>
              </a:lnSpc>
              <a:spcBef>
                <a:spcPts val="800"/>
              </a:spcBef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2 LLM-inspired Time-Series Foundation Models: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Chronos-2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 err="1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FinCast</a:t>
            </a:r>
            <a:endParaRPr lang="en-US" sz="933" dirty="0">
              <a:solidFill>
                <a:prstClr val="black"/>
              </a:solidFill>
              <a:latin typeface="Arial" pitchFamily="34" charset="0"/>
              <a:cs typeface="Arial" pitchFamily="34" charset="-120"/>
            </a:endParaRP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F7365DD6-47F7-B9C1-8021-DA7B7156FC3B}"/>
              </a:ext>
            </a:extLst>
          </p:cNvPr>
          <p:cNvCxnSpPr>
            <a:cxnSpLocks/>
            <a:stCxn id="84" idx="3"/>
            <a:endCxn id="108" idx="1"/>
          </p:cNvCxnSpPr>
          <p:nvPr/>
        </p:nvCxnSpPr>
        <p:spPr>
          <a:xfrm flipV="1">
            <a:off x="6659507" y="1997542"/>
            <a:ext cx="478588" cy="73280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4210B75F-C13E-522F-6157-1F498601015C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9568046" y="1993802"/>
            <a:ext cx="283388" cy="18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F5A9C13-E31B-5786-18CC-4F085CCE0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442" y="1242504"/>
            <a:ext cx="523113" cy="2720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CAF96E-1144-8C74-02CB-56AF06C06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940" y="1561368"/>
            <a:ext cx="1528112" cy="2171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6916C2-2589-5210-26C7-230D7E9EB9CA}"/>
              </a:ext>
            </a:extLst>
          </p:cNvPr>
          <p:cNvSpPr/>
          <p:nvPr/>
        </p:nvSpPr>
        <p:spPr>
          <a:xfrm>
            <a:off x="126174" y="3827202"/>
            <a:ext cx="11933745" cy="18256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E8D91C63-5FEF-AAD8-163E-A5FB59E6711F}"/>
              </a:ext>
            </a:extLst>
          </p:cNvPr>
          <p:cNvSpPr/>
          <p:nvPr/>
        </p:nvSpPr>
        <p:spPr>
          <a:xfrm>
            <a:off x="286700" y="3912375"/>
            <a:ext cx="5793232" cy="226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(b)  Selection-bias-free evaluation protocol</a:t>
            </a:r>
          </a:p>
        </p:txBody>
      </p:sp>
      <p:sp>
        <p:nvSpPr>
          <p:cNvPr id="8" name="Shape 17">
            <a:extLst>
              <a:ext uri="{FF2B5EF4-FFF2-40B4-BE49-F238E27FC236}">
                <a16:creationId xmlns:a16="http://schemas.microsoft.com/office/drawing/2014/main" id="{41FFDF43-66B8-9D7B-20F2-581E93E1D75B}"/>
              </a:ext>
            </a:extLst>
          </p:cNvPr>
          <p:cNvSpPr/>
          <p:nvPr/>
        </p:nvSpPr>
        <p:spPr>
          <a:xfrm>
            <a:off x="324292" y="4310620"/>
            <a:ext cx="7798190" cy="512064"/>
          </a:xfrm>
          <a:prstGeom prst="roundRect">
            <a:avLst>
              <a:gd name="adj" fmla="val 7143"/>
            </a:avLst>
          </a:prstGeom>
          <a:solidFill>
            <a:srgbClr val="E0E0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6E6CE998-F04B-FCEB-E304-386ADEFA87F8}"/>
              </a:ext>
            </a:extLst>
          </p:cNvPr>
          <p:cNvSpPr/>
          <p:nvPr/>
        </p:nvSpPr>
        <p:spPr>
          <a:xfrm>
            <a:off x="324292" y="4310620"/>
            <a:ext cx="779819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Train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2020–2022</a:t>
            </a:r>
            <a:endParaRPr lang="en-US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68800F6C-5FF8-D17E-1F71-F0BE71AF6208}"/>
              </a:ext>
            </a:extLst>
          </p:cNvPr>
          <p:cNvSpPr/>
          <p:nvPr/>
        </p:nvSpPr>
        <p:spPr>
          <a:xfrm>
            <a:off x="6740711" y="4310620"/>
            <a:ext cx="2376714" cy="512064"/>
          </a:xfrm>
          <a:prstGeom prst="roundRect">
            <a:avLst>
              <a:gd name="adj" fmla="val 7143"/>
            </a:avLst>
          </a:prstGeom>
          <a:solidFill>
            <a:srgbClr val="FFE3C7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47266F7B-2653-05A5-7438-95A8DC238AC0}"/>
              </a:ext>
            </a:extLst>
          </p:cNvPr>
          <p:cNvSpPr/>
          <p:nvPr/>
        </p:nvSpPr>
        <p:spPr>
          <a:xfrm>
            <a:off x="6740711" y="4310620"/>
            <a:ext cx="2628603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2023</a:t>
            </a:r>
            <a:endParaRPr lang="en-US" sz="160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0D2F1171-74EC-9BBD-8A46-0FA1AEA501F6}"/>
              </a:ext>
            </a:extLst>
          </p:cNvPr>
          <p:cNvSpPr/>
          <p:nvPr/>
        </p:nvSpPr>
        <p:spPr>
          <a:xfrm>
            <a:off x="9127071" y="4310620"/>
            <a:ext cx="280385" cy="512064"/>
          </a:xfrm>
          <a:prstGeom prst="roundRect">
            <a:avLst>
              <a:gd name="adj" fmla="val 15854"/>
            </a:avLst>
          </a:prstGeom>
          <a:solidFill>
            <a:srgbClr val="D3D3D3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730EEB45-1801-94C5-7E62-1670E16F9C9B}"/>
              </a:ext>
            </a:extLst>
          </p:cNvPr>
          <p:cNvSpPr/>
          <p:nvPr/>
        </p:nvSpPr>
        <p:spPr>
          <a:xfrm>
            <a:off x="9417102" y="4310620"/>
            <a:ext cx="2469796" cy="512064"/>
          </a:xfrm>
          <a:prstGeom prst="roundRect">
            <a:avLst>
              <a:gd name="adj" fmla="val 7143"/>
            </a:avLst>
          </a:prstGeom>
          <a:solidFill>
            <a:srgbClr val="FFDBDB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CD719012-7BC6-6971-09B7-F213A102C37C}"/>
              </a:ext>
            </a:extLst>
          </p:cNvPr>
          <p:cNvSpPr/>
          <p:nvPr/>
        </p:nvSpPr>
        <p:spPr>
          <a:xfrm>
            <a:off x="9723120" y="4310620"/>
            <a:ext cx="2039736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2024</a:t>
            </a:r>
            <a:endParaRPr lang="en-US" dirty="0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2B1720F8-7E94-4FD9-DBBF-2DE9D476121F}"/>
              </a:ext>
            </a:extLst>
          </p:cNvPr>
          <p:cNvSpPr/>
          <p:nvPr/>
        </p:nvSpPr>
        <p:spPr>
          <a:xfrm>
            <a:off x="126175" y="4929994"/>
            <a:ext cx="11744954" cy="675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Note: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Fit on training; tune and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select model family + horizon on the validation window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; the choice is locked to an immutable file (</a:t>
            </a:r>
            <a:r>
              <a:rPr lang="en-US" sz="1400" dirty="0" err="1">
                <a:solidFill>
                  <a:srgbClr val="1F1F1F"/>
                </a:solidFill>
                <a:ea typeface="Consolas" pitchFamily="34" charset="-122"/>
                <a:cs typeface="Consolas" pitchFamily="34" charset="-120"/>
              </a:rPr>
              <a:t>selected_config.json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 year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reported once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— no re-selection.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18DC7915-C102-A01E-BDAD-EC4072A2376D}"/>
              </a:ext>
            </a:extLst>
          </p:cNvPr>
          <p:cNvSpPr/>
          <p:nvPr/>
        </p:nvSpPr>
        <p:spPr>
          <a:xfrm>
            <a:off x="169550" y="5876059"/>
            <a:ext cx="11589505" cy="520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Grid:  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8 feature sets × 7 models × 5 stocks × 3 horizons × 5 seeds = </a:t>
            </a: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4,200 task-specific runs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(plus 2 time-series foundation models). Reported as multi-seed mean ± std with paired Wilcoxon signed-rank tests.</a:t>
            </a:r>
            <a:endParaRPr lang="en-US" sz="16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DF3E1AA1-83AF-617C-AEEF-83DCB8E1C29E}"/>
              </a:ext>
            </a:extLst>
          </p:cNvPr>
          <p:cNvSpPr/>
          <p:nvPr/>
        </p:nvSpPr>
        <p:spPr>
          <a:xfrm>
            <a:off x="8388423" y="4004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83838"/>
                </a:solidFill>
                <a:ea typeface="Calibri" pitchFamily="34" charset="-122"/>
                <a:cs typeface="Calibri" pitchFamily="34" charset="-120"/>
              </a:rPr>
              <a:t>5-day embargo</a:t>
            </a:r>
            <a:endParaRPr lang="en-US" sz="16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AFE608E8-4261-8DA8-D96E-9C1A0DD59D98}"/>
              </a:ext>
            </a:extLst>
          </p:cNvPr>
          <p:cNvSpPr/>
          <p:nvPr/>
        </p:nvSpPr>
        <p:spPr>
          <a:xfrm>
            <a:off x="286700" y="256537"/>
            <a:ext cx="6151880" cy="26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(a)  Multimodal pipeline under evaluation</a:t>
            </a:r>
            <a:endParaRPr lang="en-US" sz="24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74ECA335-848B-2C75-76A4-417712789EE9}"/>
              </a:ext>
            </a:extLst>
          </p:cNvPr>
          <p:cNvSpPr/>
          <p:nvPr/>
        </p:nvSpPr>
        <p:spPr>
          <a:xfrm flipV="1">
            <a:off x="8258048" y="3486418"/>
            <a:ext cx="0" cy="340784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7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ADD80-D694-EFA5-53D4-D1AA583F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7228B32-8EF9-4974-9F84-C9E0761D9543}"/>
              </a:ext>
            </a:extLst>
          </p:cNvPr>
          <p:cNvSpPr/>
          <p:nvPr/>
        </p:nvSpPr>
        <p:spPr>
          <a:xfrm>
            <a:off x="396242" y="589959"/>
            <a:ext cx="11494510" cy="19343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CE0CF6-CAD1-AA5B-7C3B-5B89F6D44239}"/>
              </a:ext>
            </a:extLst>
          </p:cNvPr>
          <p:cNvSpPr/>
          <p:nvPr/>
        </p:nvSpPr>
        <p:spPr>
          <a:xfrm>
            <a:off x="396242" y="2898424"/>
            <a:ext cx="11494503" cy="19428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DCE69F-9A2A-ED7F-8B59-7316932AA4DC}"/>
              </a:ext>
            </a:extLst>
          </p:cNvPr>
          <p:cNvSpPr/>
          <p:nvPr/>
        </p:nvSpPr>
        <p:spPr>
          <a:xfrm>
            <a:off x="594360" y="713232"/>
            <a:ext cx="6151880" cy="26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(a)  Multimodal pipeline under evaluation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A210762-7E50-57ED-8CB2-23DEB138195E}"/>
              </a:ext>
            </a:extLst>
          </p:cNvPr>
          <p:cNvSpPr/>
          <p:nvPr/>
        </p:nvSpPr>
        <p:spPr>
          <a:xfrm>
            <a:off x="594360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6E6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1DFBB7-F9F8-6089-608B-AF432E922210}"/>
              </a:ext>
            </a:extLst>
          </p:cNvPr>
          <p:cNvSpPr/>
          <p:nvPr/>
        </p:nvSpPr>
        <p:spPr>
          <a:xfrm>
            <a:off x="320040" y="1084852"/>
            <a:ext cx="2173222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 Data</a:t>
            </a:r>
            <a:endParaRPr lang="en-US" sz="2000" dirty="0"/>
          </a:p>
          <a:p>
            <a:pPr marL="628650" lvl="1" indent="-1714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Financial News, </a:t>
            </a:r>
          </a:p>
          <a:p>
            <a:pPr marL="628650" lvl="1" indent="-1714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Social Media,</a:t>
            </a:r>
            <a:endParaRPr lang="en-US" dirty="0"/>
          </a:p>
          <a:p>
            <a:pPr marL="628650" lvl="1" indent="-1714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Yahoo Finance </a:t>
            </a:r>
            <a:r>
              <a:rPr lang="en-US" sz="1100" dirty="0" err="1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OHLCV</a:t>
            </a:r>
            <a:endParaRPr lang="en-US" sz="1100" dirty="0">
              <a:solidFill>
                <a:srgbClr val="1F1F1F"/>
              </a:solidFill>
              <a:ea typeface="Calibri" pitchFamily="34" charset="-122"/>
              <a:cs typeface="Calibri" pitchFamily="34" charset="-120"/>
            </a:endParaRPr>
          </a:p>
          <a:p>
            <a:pPr lvl="1">
              <a:lnSpc>
                <a:spcPct val="102000"/>
              </a:lnSpc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 (2020–2024)</a:t>
            </a:r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07032B-360E-366F-7989-F24DB6EE1FE8}"/>
              </a:ext>
            </a:extLst>
          </p:cNvPr>
          <p:cNvSpPr/>
          <p:nvPr/>
        </p:nvSpPr>
        <p:spPr>
          <a:xfrm>
            <a:off x="2843784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0F0F0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58D2D7E-0579-508E-9CB8-0D32220AD310}"/>
              </a:ext>
            </a:extLst>
          </p:cNvPr>
          <p:cNvSpPr/>
          <p:nvPr/>
        </p:nvSpPr>
        <p:spPr>
          <a:xfrm>
            <a:off x="2805683" y="1054380"/>
            <a:ext cx="2051306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>
              <a:lnSpc>
                <a:spcPct val="102000"/>
              </a:lnSpc>
              <a:spcAft>
                <a:spcPts val="600"/>
              </a:spcAft>
            </a:pPr>
            <a:r>
              <a:rPr lang="en-US" sz="20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2000" dirty="0"/>
          </a:p>
          <a:p>
            <a:pPr marL="432000" indent="-1714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FinBERT</a:t>
            </a: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-Tone Sentiment</a:t>
            </a:r>
          </a:p>
          <a:p>
            <a:pPr marL="432000" indent="-1714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10 indicator pairs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D30B091-5BD0-2022-C636-29FCB0531475}"/>
              </a:ext>
            </a:extLst>
          </p:cNvPr>
          <p:cNvSpPr/>
          <p:nvPr/>
        </p:nvSpPr>
        <p:spPr>
          <a:xfrm>
            <a:off x="5093208" y="1133856"/>
            <a:ext cx="2523744" cy="1060704"/>
          </a:xfrm>
          <a:prstGeom prst="roundRect">
            <a:avLst>
              <a:gd name="adj" fmla="val 4310"/>
            </a:avLst>
          </a:prstGeom>
          <a:solidFill>
            <a:schemeClr val="bg1"/>
          </a:solidFill>
          <a:ln w="25400">
            <a:solidFill>
              <a:schemeClr val="accent5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43067E5-D7D5-E390-02FB-4C7EEC7D8B00}"/>
              </a:ext>
            </a:extLst>
          </p:cNvPr>
          <p:cNvSpPr/>
          <p:nvPr/>
        </p:nvSpPr>
        <p:spPr>
          <a:xfrm>
            <a:off x="5093208" y="1133856"/>
            <a:ext cx="252374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algn="ctr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Fusion with </a:t>
            </a:r>
            <a:r>
              <a:rPr lang="en-US" sz="2400" b="1" dirty="0"/>
              <a:t>a Learnable Weight</a:t>
            </a: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</a:t>
            </a:r>
          </a:p>
          <a:p>
            <a:pPr indent="0" algn="ctr">
              <a:lnSpc>
                <a:spcPct val="102000"/>
              </a:lnSpc>
              <a:spcAft>
                <a:spcPts val="600"/>
              </a:spcAft>
              <a:buNone/>
            </a:pPr>
            <a:endParaRPr lang="en-US" b="1" dirty="0">
              <a:solidFill>
                <a:srgbClr val="1F1F1F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967B935-4D3F-EFB4-CD16-5402861EF727}"/>
              </a:ext>
            </a:extLst>
          </p:cNvPr>
          <p:cNvSpPr/>
          <p:nvPr/>
        </p:nvSpPr>
        <p:spPr>
          <a:xfrm>
            <a:off x="7891272" y="1133856"/>
            <a:ext cx="1700784" cy="1060704"/>
          </a:xfrm>
          <a:prstGeom prst="roundRect">
            <a:avLst>
              <a:gd name="adj" fmla="val 4310"/>
            </a:avLst>
          </a:prstGeom>
          <a:solidFill>
            <a:srgbClr val="EDDBED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89859A1-5BD2-1A1A-CD08-15AE608F848C}"/>
              </a:ext>
            </a:extLst>
          </p:cNvPr>
          <p:cNvSpPr/>
          <p:nvPr/>
        </p:nvSpPr>
        <p:spPr>
          <a:xfrm>
            <a:off x="7754112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Models</a:t>
            </a:r>
            <a:endParaRPr lang="en-US" sz="2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7 families,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Bayesian HPO: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LR SVM RF GB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XGB LGBM LSTM</a:t>
            </a:r>
            <a:endParaRPr lang="en-US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134DBC4-F04E-3926-84FB-8852CC14F91F}"/>
              </a:ext>
            </a:extLst>
          </p:cNvPr>
          <p:cNvSpPr/>
          <p:nvPr/>
        </p:nvSpPr>
        <p:spPr>
          <a:xfrm>
            <a:off x="9866376" y="1133856"/>
            <a:ext cx="1700784" cy="1060704"/>
          </a:xfrm>
          <a:prstGeom prst="roundRect">
            <a:avLst>
              <a:gd name="adj" fmla="val 4310"/>
            </a:avLst>
          </a:prstGeom>
          <a:solidFill>
            <a:srgbClr val="FFE6E6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C92595F-0411-A8DF-EA56-ED5B0A6DFF41}"/>
              </a:ext>
            </a:extLst>
          </p:cNvPr>
          <p:cNvSpPr/>
          <p:nvPr/>
        </p:nvSpPr>
        <p:spPr>
          <a:xfrm>
            <a:off x="9729216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Backtest</a:t>
            </a:r>
            <a:endParaRPr lang="en-US" sz="2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long/short,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10 bps cost;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Sharpe, AUC,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MDD, win rate</a:t>
            </a:r>
            <a:endParaRPr lang="en-US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78437C3-E997-120E-AA1C-689A97B483C9}"/>
              </a:ext>
            </a:extLst>
          </p:cNvPr>
          <p:cNvSpPr/>
          <p:nvPr/>
        </p:nvSpPr>
        <p:spPr>
          <a:xfrm>
            <a:off x="2569464" y="1664208"/>
            <a:ext cx="274320" cy="0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957588B-91CB-B024-F767-6D7C4F80C7DC}"/>
              </a:ext>
            </a:extLst>
          </p:cNvPr>
          <p:cNvSpPr/>
          <p:nvPr/>
        </p:nvSpPr>
        <p:spPr>
          <a:xfrm>
            <a:off x="4818888" y="1664208"/>
            <a:ext cx="274320" cy="0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C699134-0726-4E88-65CB-93D2C6230DEC}"/>
              </a:ext>
            </a:extLst>
          </p:cNvPr>
          <p:cNvSpPr/>
          <p:nvPr/>
        </p:nvSpPr>
        <p:spPr>
          <a:xfrm>
            <a:off x="7606792" y="1664208"/>
            <a:ext cx="274320" cy="0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C949A2A-5CFF-9EE9-3733-628AC75F599A}"/>
              </a:ext>
            </a:extLst>
          </p:cNvPr>
          <p:cNvSpPr/>
          <p:nvPr/>
        </p:nvSpPr>
        <p:spPr>
          <a:xfrm>
            <a:off x="9592056" y="1664208"/>
            <a:ext cx="274320" cy="0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2C9286A-C7F6-69BC-20AB-9E8F8C912040}"/>
              </a:ext>
            </a:extLst>
          </p:cNvPr>
          <p:cNvSpPr/>
          <p:nvPr/>
        </p:nvSpPr>
        <p:spPr>
          <a:xfrm>
            <a:off x="556768" y="3048496"/>
            <a:ext cx="5793232" cy="226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(b)  Selection-bias-free evaluation protocol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5F605E4-0830-1FAD-F3A8-179B00EB9F0F}"/>
              </a:ext>
            </a:extLst>
          </p:cNvPr>
          <p:cNvSpPr/>
          <p:nvPr/>
        </p:nvSpPr>
        <p:spPr>
          <a:xfrm>
            <a:off x="594360" y="3499104"/>
            <a:ext cx="6416420" cy="512064"/>
          </a:xfrm>
          <a:prstGeom prst="roundRect">
            <a:avLst>
              <a:gd name="adj" fmla="val 7143"/>
            </a:avLst>
          </a:prstGeom>
          <a:solidFill>
            <a:srgbClr val="E0E0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EC6BD8F-56AF-7314-0F54-390366BEF8F0}"/>
              </a:ext>
            </a:extLst>
          </p:cNvPr>
          <p:cNvSpPr/>
          <p:nvPr/>
        </p:nvSpPr>
        <p:spPr>
          <a:xfrm>
            <a:off x="594360" y="3499104"/>
            <a:ext cx="641642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Train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2020–2022</a:t>
            </a:r>
            <a:endParaRPr 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E8633D7-4D9C-884A-343F-813D59DD7DA4}"/>
              </a:ext>
            </a:extLst>
          </p:cNvPr>
          <p:cNvSpPr/>
          <p:nvPr/>
        </p:nvSpPr>
        <p:spPr>
          <a:xfrm>
            <a:off x="7010780" y="3499104"/>
            <a:ext cx="2162838" cy="512064"/>
          </a:xfrm>
          <a:prstGeom prst="roundRect">
            <a:avLst>
              <a:gd name="adj" fmla="val 7143"/>
            </a:avLst>
          </a:prstGeom>
          <a:solidFill>
            <a:srgbClr val="FFE3C7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689BCB7-9E83-E00A-BCA1-18CAAF274258}"/>
              </a:ext>
            </a:extLst>
          </p:cNvPr>
          <p:cNvSpPr/>
          <p:nvPr/>
        </p:nvSpPr>
        <p:spPr>
          <a:xfrm>
            <a:off x="7010780" y="3499104"/>
            <a:ext cx="2162838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2023</a:t>
            </a:r>
            <a:endParaRPr lang="en-US" sz="16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8410F51-2937-1490-087C-7FE2257F98C2}"/>
              </a:ext>
            </a:extLst>
          </p:cNvPr>
          <p:cNvSpPr/>
          <p:nvPr/>
        </p:nvSpPr>
        <p:spPr>
          <a:xfrm>
            <a:off x="9173619" y="3499104"/>
            <a:ext cx="230703" cy="512064"/>
          </a:xfrm>
          <a:prstGeom prst="roundRect">
            <a:avLst>
              <a:gd name="adj" fmla="val 15854"/>
            </a:avLst>
          </a:prstGeom>
          <a:solidFill>
            <a:srgbClr val="D3D3D3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A74691A-1390-1D52-AC45-2A6D069C6B82}"/>
              </a:ext>
            </a:extLst>
          </p:cNvPr>
          <p:cNvSpPr/>
          <p:nvPr/>
        </p:nvSpPr>
        <p:spPr>
          <a:xfrm>
            <a:off x="9404321" y="3499104"/>
            <a:ext cx="2162835" cy="512064"/>
          </a:xfrm>
          <a:prstGeom prst="roundRect">
            <a:avLst>
              <a:gd name="adj" fmla="val 7143"/>
            </a:avLst>
          </a:prstGeom>
          <a:solidFill>
            <a:srgbClr val="FFDBDB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5C58616-E36D-EC6D-ADD0-D8CDC4B5FF4E}"/>
              </a:ext>
            </a:extLst>
          </p:cNvPr>
          <p:cNvSpPr/>
          <p:nvPr/>
        </p:nvSpPr>
        <p:spPr>
          <a:xfrm>
            <a:off x="9404322" y="3499104"/>
            <a:ext cx="2162838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2024</a:t>
            </a:r>
            <a:endParaRPr lang="en-US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D203757-AD44-9DE3-3163-260F396D85B2}"/>
              </a:ext>
            </a:extLst>
          </p:cNvPr>
          <p:cNvSpPr/>
          <p:nvPr/>
        </p:nvSpPr>
        <p:spPr>
          <a:xfrm>
            <a:off x="8511730" y="3220819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83838"/>
                </a:solidFill>
                <a:ea typeface="Calibri" pitchFamily="34" charset="-122"/>
                <a:cs typeface="Calibri" pitchFamily="34" charset="-120"/>
              </a:rPr>
              <a:t>5-day embargo</a:t>
            </a:r>
            <a:endParaRPr lang="en-US" sz="16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C94A1E9-20FD-FCAB-1FBE-A4828A1E5233}"/>
              </a:ext>
            </a:extLst>
          </p:cNvPr>
          <p:cNvSpPr/>
          <p:nvPr/>
        </p:nvSpPr>
        <p:spPr>
          <a:xfrm>
            <a:off x="396243" y="4118478"/>
            <a:ext cx="11744954" cy="675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Note: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Fit on training; tune and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select model family + horizon on the validation window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; the choice is locked to an immutable file (</a:t>
            </a:r>
            <a:r>
              <a:rPr lang="en-US" sz="1400" dirty="0" err="1">
                <a:solidFill>
                  <a:srgbClr val="1F1F1F"/>
                </a:solidFill>
                <a:ea typeface="Consolas" pitchFamily="34" charset="-122"/>
                <a:cs typeface="Consolas" pitchFamily="34" charset="-120"/>
              </a:rPr>
              <a:t>selected_config.json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 year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reported once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— no re-selection.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7C8076D-5C2B-6463-3034-7088A1C9C980}"/>
              </a:ext>
            </a:extLst>
          </p:cNvPr>
          <p:cNvSpPr/>
          <p:nvPr/>
        </p:nvSpPr>
        <p:spPr>
          <a:xfrm>
            <a:off x="301240" y="4909101"/>
            <a:ext cx="11589505" cy="520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Grid:  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8 feature sets × 7 models × 5 stocks × 3 horizons × 5 seeds = </a:t>
            </a: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4,200 task-specific runs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(plus 2 time-series foundation models). Reported as multi-seed mean ± std with paired Wilcoxon signed-rank tests.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E2590DC-8418-A2F0-A694-761F6E577495}"/>
              </a:ext>
            </a:extLst>
          </p:cNvPr>
          <p:cNvSpPr/>
          <p:nvPr/>
        </p:nvSpPr>
        <p:spPr>
          <a:xfrm>
            <a:off x="594360" y="63322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5A5A5A"/>
                </a:solidFill>
                <a:ea typeface="Calibri" pitchFamily="34" charset="-122"/>
                <a:cs typeface="Calibri" pitchFamily="34" charset="-120"/>
              </a:rPr>
              <a:t>Figure 1.  </a:t>
            </a:r>
            <a:r>
              <a:rPr lang="en-US" sz="1200" i="1" dirty="0">
                <a:solidFill>
                  <a:srgbClr val="5A5A5A"/>
                </a:solidFill>
                <a:ea typeface="Calibri" pitchFamily="34" charset="-122"/>
                <a:cs typeface="Calibri" pitchFamily="34" charset="-120"/>
              </a:rPr>
              <a:t>Overview of the study. (a) A conventional multimodal stock-movement pipeline: news, social-media, and price data are turned into FinBERT-Tone sentiment and technical-indicator features, fused, fed to seven model families, and evaluated by a long/short backtest. (b) The selection-bias-free evaluation protocol that is the methodological contribution: a chronological train/validation/test split with a five-day embargo; all model-family and horizon selection locked to the 2023 validation window; and a 4,200-run multi-seed grid reported with paired significance tests. Every grid cell is one execution of pipeline (a).</a:t>
            </a:r>
            <a:endParaRPr lang="en-US" sz="12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5E477C4-57D1-8F7F-501D-5F8CC26F9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419" y="1867602"/>
            <a:ext cx="2236498" cy="247482"/>
          </a:xfrm>
          <a:prstGeom prst="rect">
            <a:avLst/>
          </a:prstGeom>
        </p:spPr>
      </p:pic>
      <p:sp>
        <p:nvSpPr>
          <p:cNvPr id="38" name="Shape 12">
            <a:extLst>
              <a:ext uri="{FF2B5EF4-FFF2-40B4-BE49-F238E27FC236}">
                <a16:creationId xmlns:a16="http://schemas.microsoft.com/office/drawing/2014/main" id="{956F25F0-5AEA-3E37-648D-053B22B1A058}"/>
              </a:ext>
            </a:extLst>
          </p:cNvPr>
          <p:cNvSpPr/>
          <p:nvPr/>
        </p:nvSpPr>
        <p:spPr>
          <a:xfrm flipV="1">
            <a:off x="8694928" y="2524328"/>
            <a:ext cx="0" cy="340784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25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B5DE56-4EDA-B271-0294-310D3A42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91AE0A9-181F-6AD3-BC45-BCF8911E8BD7}"/>
              </a:ext>
            </a:extLst>
          </p:cNvPr>
          <p:cNvSpPr/>
          <p:nvPr/>
        </p:nvSpPr>
        <p:spPr>
          <a:xfrm>
            <a:off x="126175" y="223520"/>
            <a:ext cx="11933745" cy="3289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6371F1-47B8-23C8-DA3D-555E55EE3794}"/>
              </a:ext>
            </a:extLst>
          </p:cNvPr>
          <p:cNvSpPr/>
          <p:nvPr/>
        </p:nvSpPr>
        <p:spPr>
          <a:xfrm>
            <a:off x="307163" y="646481"/>
            <a:ext cx="1714499" cy="2698264"/>
          </a:xfrm>
          <a:prstGeom prst="roundRect">
            <a:avLst>
              <a:gd name="adj" fmla="val 7778"/>
            </a:avLst>
          </a:prstGeom>
          <a:solidFill>
            <a:schemeClr val="accent5">
              <a:lumMod val="40000"/>
              <a:lumOff val="6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4B9D7C9B-FBF7-6D90-4BC3-FDAECC682825}"/>
              </a:ext>
            </a:extLst>
          </p:cNvPr>
          <p:cNvSpPr/>
          <p:nvPr/>
        </p:nvSpPr>
        <p:spPr>
          <a:xfrm>
            <a:off x="397212" y="776820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Data Collection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2BF8A93-9254-3D1D-CAE3-921C796C45FC}"/>
              </a:ext>
            </a:extLst>
          </p:cNvPr>
          <p:cNvSpPr/>
          <p:nvPr/>
        </p:nvSpPr>
        <p:spPr>
          <a:xfrm>
            <a:off x="397213" y="1728962"/>
            <a:ext cx="1521900" cy="6957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20D6D4FE-D2D4-64B4-6497-19A7365E2D71}"/>
              </a:ext>
            </a:extLst>
          </p:cNvPr>
          <p:cNvSpPr/>
          <p:nvPr/>
        </p:nvSpPr>
        <p:spPr>
          <a:xfrm>
            <a:off x="395443" y="1800152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F94591D1-86CE-6778-9ADE-3BEBF226B904}"/>
              </a:ext>
            </a:extLst>
          </p:cNvPr>
          <p:cNvSpPr/>
          <p:nvPr/>
        </p:nvSpPr>
        <p:spPr>
          <a:xfrm>
            <a:off x="395443" y="2033714"/>
            <a:ext cx="1515619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(WSB, Stocks), StockTwits, Twitter/X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9AB96C9-0D0D-EBB9-B3BB-8A9CD4814446}"/>
              </a:ext>
            </a:extLst>
          </p:cNvPr>
          <p:cNvSpPr/>
          <p:nvPr/>
        </p:nvSpPr>
        <p:spPr>
          <a:xfrm>
            <a:off x="389162" y="2500367"/>
            <a:ext cx="1521900" cy="6902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FAB4CB7C-37A3-AE85-2D98-FBA11174853E}"/>
              </a:ext>
            </a:extLst>
          </p:cNvPr>
          <p:cNvSpPr/>
          <p:nvPr/>
        </p:nvSpPr>
        <p:spPr>
          <a:xfrm>
            <a:off x="387392" y="2571556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Data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10F06C08-EAF5-CCB2-5672-E6A3A791FE9B}"/>
              </a:ext>
            </a:extLst>
          </p:cNvPr>
          <p:cNvSpPr/>
          <p:nvPr/>
        </p:nvSpPr>
        <p:spPr>
          <a:xfrm>
            <a:off x="387392" y="2805118"/>
            <a:ext cx="1515619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 OHLCV (2020-2024)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9B0D839-DCFA-2DC6-1A59-FBF594C667B8}"/>
              </a:ext>
            </a:extLst>
          </p:cNvPr>
          <p:cNvSpPr/>
          <p:nvPr/>
        </p:nvSpPr>
        <p:spPr>
          <a:xfrm>
            <a:off x="397213" y="992106"/>
            <a:ext cx="1521900" cy="6902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F5435D1A-22F6-5A73-DB6A-75538E54B6CB}"/>
              </a:ext>
            </a:extLst>
          </p:cNvPr>
          <p:cNvSpPr/>
          <p:nvPr/>
        </p:nvSpPr>
        <p:spPr>
          <a:xfrm>
            <a:off x="395443" y="1043471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News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4">
            <a:extLst>
              <a:ext uri="{FF2B5EF4-FFF2-40B4-BE49-F238E27FC236}">
                <a16:creationId xmlns:a16="http://schemas.microsoft.com/office/drawing/2014/main" id="{2A96B831-26E7-D55A-8E07-663642943536}"/>
              </a:ext>
            </a:extLst>
          </p:cNvPr>
          <p:cNvSpPr/>
          <p:nvPr/>
        </p:nvSpPr>
        <p:spPr>
          <a:xfrm>
            <a:off x="464335" y="1277033"/>
            <a:ext cx="1377835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Kaggle, MarketWatch, Google Search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58F115D9-2E67-9494-F561-8941297C80A4}"/>
              </a:ext>
            </a:extLst>
          </p:cNvPr>
          <p:cNvSpPr/>
          <p:nvPr/>
        </p:nvSpPr>
        <p:spPr>
          <a:xfrm>
            <a:off x="2623702" y="2113240"/>
            <a:ext cx="158038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FinBERT-Tone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3CAE542-5199-BE95-A29D-BDD9FD79BED8}"/>
              </a:ext>
            </a:extLst>
          </p:cNvPr>
          <p:cNvSpPr/>
          <p:nvPr/>
        </p:nvSpPr>
        <p:spPr>
          <a:xfrm>
            <a:off x="2623702" y="2700073"/>
            <a:ext cx="1580388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169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47A8D6-7507-717F-7590-8DE75DA7EB66}"/>
              </a:ext>
            </a:extLst>
          </p:cNvPr>
          <p:cNvSpPr/>
          <p:nvPr/>
        </p:nvSpPr>
        <p:spPr>
          <a:xfrm>
            <a:off x="2359795" y="646483"/>
            <a:ext cx="1970407" cy="2698264"/>
          </a:xfrm>
          <a:prstGeom prst="roundRect">
            <a:avLst>
              <a:gd name="adj" fmla="val 7639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4207BA0-A716-614C-6266-F89241668047}"/>
              </a:ext>
            </a:extLst>
          </p:cNvPr>
          <p:cNvSpPr/>
          <p:nvPr/>
        </p:nvSpPr>
        <p:spPr>
          <a:xfrm>
            <a:off x="2461395" y="776819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Feature Extraction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0358CF-863E-A0D9-E99D-00FB493C4F70}"/>
              </a:ext>
            </a:extLst>
          </p:cNvPr>
          <p:cNvSpPr/>
          <p:nvPr/>
        </p:nvSpPr>
        <p:spPr>
          <a:xfrm>
            <a:off x="2493280" y="1087936"/>
            <a:ext cx="1673648" cy="9073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F86DB81-C879-3675-E5A4-D177C08FFFFB}"/>
              </a:ext>
            </a:extLst>
          </p:cNvPr>
          <p:cNvSpPr/>
          <p:nvPr/>
        </p:nvSpPr>
        <p:spPr>
          <a:xfrm>
            <a:off x="2658776" y="1156404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FinBERT-Tone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8680BA1-BD63-A8C1-EFDE-83EE10DA26F5}"/>
              </a:ext>
            </a:extLst>
          </p:cNvPr>
          <p:cNvSpPr/>
          <p:nvPr/>
        </p:nvSpPr>
        <p:spPr>
          <a:xfrm>
            <a:off x="2727668" y="1472249"/>
            <a:ext cx="1377835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[-1, +1]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63CB85-15F8-E929-68B4-E8643D0EFDF9}"/>
              </a:ext>
            </a:extLst>
          </p:cNvPr>
          <p:cNvSpPr/>
          <p:nvPr/>
        </p:nvSpPr>
        <p:spPr>
          <a:xfrm>
            <a:off x="2512680" y="2248309"/>
            <a:ext cx="1673649" cy="9685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20244E1-E34E-F045-996B-4B862200BB1A}"/>
              </a:ext>
            </a:extLst>
          </p:cNvPr>
          <p:cNvSpPr/>
          <p:nvPr/>
        </p:nvSpPr>
        <p:spPr>
          <a:xfrm>
            <a:off x="2670709" y="2360758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Indicators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4985FCD0-A3E8-9ED1-A9DB-F382E1559026}"/>
              </a:ext>
            </a:extLst>
          </p:cNvPr>
          <p:cNvSpPr/>
          <p:nvPr/>
        </p:nvSpPr>
        <p:spPr>
          <a:xfrm>
            <a:off x="2594930" y="2656101"/>
            <a:ext cx="1667180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r>
              <a:rPr lang="en-US" sz="1067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Pairs</a:t>
            </a:r>
            <a:endParaRPr lang="en-US" sz="1067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EMA, SMA, MACD, RSI</a:t>
            </a:r>
          </a:p>
          <a:p>
            <a:pPr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Buy/Sell/Hold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defRPr/>
            </a:pPr>
            <a:endParaRPr lang="en-US" sz="1067" dirty="0">
              <a:solidFill>
                <a:prstClr val="black"/>
              </a:solidFill>
            </a:endParaRPr>
          </a:p>
          <a:p>
            <a:pPr lvl="0" algn="ctr">
              <a:defRPr/>
            </a:pP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5A7B06C1-16CA-021D-756F-2C98B9727700}"/>
              </a:ext>
            </a:extLst>
          </p:cNvPr>
          <p:cNvSpPr/>
          <p:nvPr/>
        </p:nvSpPr>
        <p:spPr>
          <a:xfrm>
            <a:off x="4918996" y="1605240"/>
            <a:ext cx="18135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FUSION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BD9C93BC-92D0-A6CD-99BB-9CF899E5B1A7}"/>
              </a:ext>
            </a:extLst>
          </p:cNvPr>
          <p:cNvSpPr/>
          <p:nvPr/>
        </p:nvSpPr>
        <p:spPr>
          <a:xfrm>
            <a:off x="5082572" y="2113241"/>
            <a:ext cx="1450848" cy="39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Aggregation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99A9058F-8722-73D7-1E05-E740593D7D5A}"/>
              </a:ext>
            </a:extLst>
          </p:cNvPr>
          <p:cNvSpPr/>
          <p:nvPr/>
        </p:nvSpPr>
        <p:spPr>
          <a:xfrm>
            <a:off x="4936776" y="2946335"/>
            <a:ext cx="1778000" cy="29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ts val="1040"/>
              </a:lnSpc>
              <a:spcBef>
                <a:spcPts val="400"/>
              </a:spcBef>
              <a:defRPr/>
            </a:pPr>
            <a:r>
              <a:rPr lang="en-US" sz="1200" dirty="0">
                <a:solidFill>
                  <a:prstClr val="black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 = 0.7*News + 0.3*Social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16164676-CA91-5B37-0EA6-AA749B0DE7CF}"/>
              </a:ext>
            </a:extLst>
          </p:cNvPr>
          <p:cNvSpPr/>
          <p:nvPr/>
        </p:nvSpPr>
        <p:spPr>
          <a:xfrm>
            <a:off x="4647583" y="646483"/>
            <a:ext cx="2132312" cy="2698264"/>
          </a:xfrm>
          <a:prstGeom prst="roundRect">
            <a:avLst>
              <a:gd name="adj" fmla="val 8827"/>
            </a:avLst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5FF22BE5-232C-33AC-9815-9C69B3FCF6B3}"/>
              </a:ext>
            </a:extLst>
          </p:cNvPr>
          <p:cNvSpPr/>
          <p:nvPr/>
        </p:nvSpPr>
        <p:spPr>
          <a:xfrm>
            <a:off x="4851705" y="776819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Fusion with a </a:t>
            </a:r>
            <a:r>
              <a:rPr lang="en-US" sz="1333" b="1" dirty="0"/>
              <a:t>Learnable Weight</a:t>
            </a:r>
            <a:r>
              <a:rPr lang="en-US" sz="1333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33" b="1" dirty="0">
              <a:solidFill>
                <a:prstClr val="black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ECA52D4-B35A-7D8E-B8D0-E315B73B3452}"/>
              </a:ext>
            </a:extLst>
          </p:cNvPr>
          <p:cNvSpPr/>
          <p:nvPr/>
        </p:nvSpPr>
        <p:spPr>
          <a:xfrm>
            <a:off x="4783114" y="1192134"/>
            <a:ext cx="1876393" cy="6943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7AAF039B-8641-BDD9-190F-CF7B793FCE2F}"/>
              </a:ext>
            </a:extLst>
          </p:cNvPr>
          <p:cNvSpPr/>
          <p:nvPr/>
        </p:nvSpPr>
        <p:spPr>
          <a:xfrm>
            <a:off x="4783114" y="2346332"/>
            <a:ext cx="1876393" cy="768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85" name="Text 3">
            <a:extLst>
              <a:ext uri="{FF2B5EF4-FFF2-40B4-BE49-F238E27FC236}">
                <a16:creationId xmlns:a16="http://schemas.microsoft.com/office/drawing/2014/main" id="{83DC0164-11DB-1B57-C3B9-F1D4D2874FC6}"/>
              </a:ext>
            </a:extLst>
          </p:cNvPr>
          <p:cNvSpPr/>
          <p:nvPr/>
        </p:nvSpPr>
        <p:spPr>
          <a:xfrm>
            <a:off x="5002195" y="2414041"/>
            <a:ext cx="1515619" cy="17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Concatenation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8AEDE4DA-D3ED-4C73-3722-02EA4549DB01}"/>
              </a:ext>
            </a:extLst>
          </p:cNvPr>
          <p:cNvSpPr/>
          <p:nvPr/>
        </p:nvSpPr>
        <p:spPr>
          <a:xfrm>
            <a:off x="4871658" y="2697476"/>
            <a:ext cx="166718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400"/>
              </a:spcBef>
              <a:defRPr/>
            </a:pPr>
            <a:r>
              <a:rPr lang="en-US" sz="1067" dirty="0">
                <a:solidFill>
                  <a:prstClr val="black"/>
                </a:solidFill>
                <a:latin typeface="Arial" panose="020B0604020202020204" pitchFamily="34" charset="0"/>
                <a:ea typeface="monospace" pitchFamily="34" charset="-122"/>
                <a:cs typeface="Arial" panose="020B0604020202020204" pitchFamily="34" charset="0"/>
              </a:rPr>
              <a:t>z = [Tech || Sentiment]</a:t>
            </a:r>
          </a:p>
          <a:p>
            <a:pPr algn="ctr">
              <a:spcBef>
                <a:spcPts val="400"/>
              </a:spcBef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multimodal features</a:t>
            </a:r>
            <a:endParaRPr lang="en-US" sz="1067" dirty="0">
              <a:solidFill>
                <a:prstClr val="black"/>
              </a:solidFill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0432472-9A7D-1188-7BB9-13591FF973DA}"/>
              </a:ext>
            </a:extLst>
          </p:cNvPr>
          <p:cNvCxnSpPr>
            <a:cxnSpLocks/>
            <a:stCxn id="81" idx="2"/>
            <a:endCxn id="84" idx="0"/>
          </p:cNvCxnSpPr>
          <p:nvPr/>
        </p:nvCxnSpPr>
        <p:spPr>
          <a:xfrm>
            <a:off x="5721311" y="1886514"/>
            <a:ext cx="0" cy="4598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 39">
            <a:extLst>
              <a:ext uri="{FF2B5EF4-FFF2-40B4-BE49-F238E27FC236}">
                <a16:creationId xmlns:a16="http://schemas.microsoft.com/office/drawing/2014/main" id="{F0D62200-2EC4-E07D-59ED-92C79518AA45}"/>
              </a:ext>
            </a:extLst>
          </p:cNvPr>
          <p:cNvSpPr/>
          <p:nvPr/>
        </p:nvSpPr>
        <p:spPr>
          <a:xfrm>
            <a:off x="10176127" y="2113240"/>
            <a:ext cx="1386077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Prediction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0">
            <a:extLst>
              <a:ext uri="{FF2B5EF4-FFF2-40B4-BE49-F238E27FC236}">
                <a16:creationId xmlns:a16="http://schemas.microsoft.com/office/drawing/2014/main" id="{4CDBD97E-556A-AF11-5C5C-1361A2A37F64}"/>
              </a:ext>
            </a:extLst>
          </p:cNvPr>
          <p:cNvSpPr/>
          <p:nvPr/>
        </p:nvSpPr>
        <p:spPr>
          <a:xfrm>
            <a:off x="10176127" y="2694851"/>
            <a:ext cx="1386077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169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Direction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754948EC-3C8E-D551-6E7F-87B19EE0D5AF}"/>
              </a:ext>
            </a:extLst>
          </p:cNvPr>
          <p:cNvSpPr/>
          <p:nvPr/>
        </p:nvSpPr>
        <p:spPr>
          <a:xfrm>
            <a:off x="9851434" y="646481"/>
            <a:ext cx="2035465" cy="2698264"/>
          </a:xfrm>
          <a:prstGeom prst="roundRect">
            <a:avLst>
              <a:gd name="adj" fmla="val 7147"/>
            </a:avLst>
          </a:prstGeom>
          <a:solidFill>
            <a:srgbClr val="FFCDCD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122" name="Text 3">
            <a:extLst>
              <a:ext uri="{FF2B5EF4-FFF2-40B4-BE49-F238E27FC236}">
                <a16:creationId xmlns:a16="http://schemas.microsoft.com/office/drawing/2014/main" id="{B34F065D-E07E-016B-BFFE-A546F4FA9B9E}"/>
              </a:ext>
            </a:extLst>
          </p:cNvPr>
          <p:cNvSpPr/>
          <p:nvPr/>
        </p:nvSpPr>
        <p:spPr>
          <a:xfrm>
            <a:off x="9928740" y="771318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Trading Simulation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8F613B7D-4A09-B4DA-2361-B91CF5246375}"/>
              </a:ext>
            </a:extLst>
          </p:cNvPr>
          <p:cNvSpPr/>
          <p:nvPr/>
        </p:nvSpPr>
        <p:spPr>
          <a:xfrm>
            <a:off x="9975473" y="1043471"/>
            <a:ext cx="1787384" cy="2070893"/>
          </a:xfrm>
          <a:prstGeom prst="roundRect">
            <a:avLst>
              <a:gd name="adj" fmla="val 1133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29" name="Text 3">
            <a:extLst>
              <a:ext uri="{FF2B5EF4-FFF2-40B4-BE49-F238E27FC236}">
                <a16:creationId xmlns:a16="http://schemas.microsoft.com/office/drawing/2014/main" id="{BE814149-4004-F34F-F5B2-A59E87622EF8}"/>
              </a:ext>
            </a:extLst>
          </p:cNvPr>
          <p:cNvSpPr/>
          <p:nvPr/>
        </p:nvSpPr>
        <p:spPr>
          <a:xfrm>
            <a:off x="10035577" y="1118333"/>
            <a:ext cx="1667180" cy="17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Direction Prediction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" name="Text 4">
            <a:extLst>
              <a:ext uri="{FF2B5EF4-FFF2-40B4-BE49-F238E27FC236}">
                <a16:creationId xmlns:a16="http://schemas.microsoft.com/office/drawing/2014/main" id="{AF5EE15B-9CF8-0EB1-DA86-FE902230B6DC}"/>
              </a:ext>
            </a:extLst>
          </p:cNvPr>
          <p:cNvSpPr/>
          <p:nvPr/>
        </p:nvSpPr>
        <p:spPr>
          <a:xfrm>
            <a:off x="10111356" y="1296025"/>
            <a:ext cx="1515619" cy="177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Horizon (</a:t>
            </a:r>
            <a:r>
              <a:rPr lang="en-US" sz="1067" i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</a:t>
            </a: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): 2-10 days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Metrics: Accuracy, AUC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b="1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</a:t>
            </a:r>
            <a:endParaRPr lang="en-US" sz="1067" b="1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Long/short strategy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Non-overlapping trades</a:t>
            </a:r>
            <a:endParaRPr lang="en-US" sz="1067" dirty="0">
              <a:solidFill>
                <a:prstClr val="black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Hold for </a:t>
            </a:r>
            <a:r>
              <a:rPr lang="en-US" sz="1067" i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 </a:t>
            </a: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days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Fees: 10 bps round-trip</a:t>
            </a:r>
            <a:endParaRPr lang="en-US" sz="10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Metrics: Number of Trades, Win Rate, Sharpe Ratio</a:t>
            </a: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CC45D8C-72AB-696F-8C07-68A41C842A61}"/>
              </a:ext>
            </a:extLst>
          </p:cNvPr>
          <p:cNvCxnSpPr>
            <a:cxnSpLocks/>
            <a:stCxn id="60" idx="3"/>
            <a:endCxn id="13" idx="1"/>
          </p:cNvCxnSpPr>
          <p:nvPr/>
        </p:nvCxnSpPr>
        <p:spPr>
          <a:xfrm flipV="1">
            <a:off x="1903011" y="2732575"/>
            <a:ext cx="609668" cy="220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95AC2107-4162-6D31-33F4-2BB8F1A19160}"/>
              </a:ext>
            </a:extLst>
          </p:cNvPr>
          <p:cNvCxnSpPr>
            <a:cxnSpLocks/>
            <a:stCxn id="72" idx="3"/>
            <a:endCxn id="10" idx="1"/>
          </p:cNvCxnSpPr>
          <p:nvPr/>
        </p:nvCxnSpPr>
        <p:spPr>
          <a:xfrm>
            <a:off x="1919113" y="1337240"/>
            <a:ext cx="574167" cy="20437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57B10753-53C5-87A2-57EA-5EC3196657A6}"/>
              </a:ext>
            </a:extLst>
          </p:cNvPr>
          <p:cNvCxnSpPr>
            <a:cxnSpLocks/>
            <a:stCxn id="42" idx="3"/>
            <a:endCxn id="10" idx="1"/>
          </p:cNvCxnSpPr>
          <p:nvPr/>
        </p:nvCxnSpPr>
        <p:spPr>
          <a:xfrm flipV="1">
            <a:off x="1919113" y="1541613"/>
            <a:ext cx="574167" cy="53523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6AB9AED-8895-19F3-E9E8-94AD91EB4C5C}"/>
              </a:ext>
            </a:extLst>
          </p:cNvPr>
          <p:cNvCxnSpPr>
            <a:cxnSpLocks/>
            <a:stCxn id="13" idx="3"/>
            <a:endCxn id="84" idx="1"/>
          </p:cNvCxnSpPr>
          <p:nvPr/>
        </p:nvCxnSpPr>
        <p:spPr>
          <a:xfrm flipV="1">
            <a:off x="4186329" y="2730348"/>
            <a:ext cx="596785" cy="22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DF96627-8676-C5EE-C8F7-D24C1D9CBFF3}"/>
              </a:ext>
            </a:extLst>
          </p:cNvPr>
          <p:cNvCxnSpPr>
            <a:cxnSpLocks/>
            <a:stCxn id="10" idx="3"/>
            <a:endCxn id="81" idx="1"/>
          </p:cNvCxnSpPr>
          <p:nvPr/>
        </p:nvCxnSpPr>
        <p:spPr>
          <a:xfrm flipV="1">
            <a:off x="4166928" y="1539324"/>
            <a:ext cx="616186" cy="22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 28">
            <a:extLst>
              <a:ext uri="{FF2B5EF4-FFF2-40B4-BE49-F238E27FC236}">
                <a16:creationId xmlns:a16="http://schemas.microsoft.com/office/drawing/2014/main" id="{1C7DA390-B506-93B3-CC2C-039A9BABF21A}"/>
              </a:ext>
            </a:extLst>
          </p:cNvPr>
          <p:cNvSpPr/>
          <p:nvPr/>
        </p:nvSpPr>
        <p:spPr>
          <a:xfrm>
            <a:off x="7408883" y="1290341"/>
            <a:ext cx="1813560" cy="177800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MODELS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2D4C5920-1772-A204-DC30-233BF93D8539}"/>
              </a:ext>
            </a:extLst>
          </p:cNvPr>
          <p:cNvSpPr/>
          <p:nvPr/>
        </p:nvSpPr>
        <p:spPr>
          <a:xfrm>
            <a:off x="7590239" y="1798340"/>
            <a:ext cx="1450848" cy="195461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15B320D4-C5CB-8772-544C-9BF0A0E3A71B}"/>
              </a:ext>
            </a:extLst>
          </p:cNvPr>
          <p:cNvSpPr/>
          <p:nvPr/>
        </p:nvSpPr>
        <p:spPr>
          <a:xfrm>
            <a:off x="7328081" y="2848859"/>
            <a:ext cx="1975167" cy="177800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6D9C49AA-080B-6ACD-0483-C1C1A17FBA3B}"/>
              </a:ext>
            </a:extLst>
          </p:cNvPr>
          <p:cNvSpPr/>
          <p:nvPr/>
        </p:nvSpPr>
        <p:spPr>
          <a:xfrm>
            <a:off x="7138095" y="652145"/>
            <a:ext cx="2395271" cy="2690792"/>
          </a:xfrm>
          <a:prstGeom prst="roundRect">
            <a:avLst>
              <a:gd name="adj" fmla="val 7147"/>
            </a:avLst>
          </a:prstGeom>
          <a:solidFill>
            <a:srgbClr val="D7CDFF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109" name="Text 3">
            <a:extLst>
              <a:ext uri="{FF2B5EF4-FFF2-40B4-BE49-F238E27FC236}">
                <a16:creationId xmlns:a16="http://schemas.microsoft.com/office/drawing/2014/main" id="{E725468B-7D30-1AB9-BB2D-C76CDE839853}"/>
              </a:ext>
            </a:extLst>
          </p:cNvPr>
          <p:cNvSpPr/>
          <p:nvPr/>
        </p:nvSpPr>
        <p:spPr>
          <a:xfrm>
            <a:off x="7341592" y="747821"/>
            <a:ext cx="1880851" cy="195463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Models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75045E3E-8CB1-2376-DA17-E543A5F04EAB}"/>
              </a:ext>
            </a:extLst>
          </p:cNvPr>
          <p:cNvSpPr/>
          <p:nvPr/>
        </p:nvSpPr>
        <p:spPr>
          <a:xfrm>
            <a:off x="7218139" y="1012254"/>
            <a:ext cx="2198963" cy="2244559"/>
          </a:xfrm>
          <a:prstGeom prst="roundRect">
            <a:avLst>
              <a:gd name="adj" fmla="val 5234"/>
            </a:avLst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12" name="Text 4">
            <a:extLst>
              <a:ext uri="{FF2B5EF4-FFF2-40B4-BE49-F238E27FC236}">
                <a16:creationId xmlns:a16="http://schemas.microsoft.com/office/drawing/2014/main" id="{ABD1C199-916E-1E61-53BE-5FF22B836151}"/>
              </a:ext>
            </a:extLst>
          </p:cNvPr>
          <p:cNvSpPr/>
          <p:nvPr/>
        </p:nvSpPr>
        <p:spPr>
          <a:xfrm>
            <a:off x="7196103" y="1126030"/>
            <a:ext cx="2279253" cy="2244559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1540"/>
              </a:lnSpc>
              <a:spcBef>
                <a:spcPts val="800"/>
              </a:spcBef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7 ML Families: </a:t>
            </a:r>
          </a:p>
          <a:p>
            <a:pPr marL="191995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Short-Term Memory (LSTM), Random Forest (RF), 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LGBM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Gradient Boosting (GB), Logistic Regression (LR), and Support Vector Machine (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3" b="1" dirty="0">
              <a:solidFill>
                <a:prstClr val="black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540"/>
              </a:lnSpc>
              <a:spcBef>
                <a:spcPts val="800"/>
              </a:spcBef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5 LLM-inspired Time-Series Foundation Models:</a:t>
            </a:r>
          </a:p>
          <a:p>
            <a:pPr marL="191995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Chronos-2 zero-shot, Chronos-2 zero-shot + 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cov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., Chronos-2 fine-tuned, Chronos-2 fine-tuned + 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cov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., and 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FinCast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 (price-only)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A0AFCC9D-91EB-5C61-6802-F49657D5D34C}"/>
              </a:ext>
            </a:extLst>
          </p:cNvPr>
          <p:cNvCxnSpPr>
            <a:cxnSpLocks/>
            <a:stCxn id="84" idx="3"/>
            <a:endCxn id="108" idx="1"/>
          </p:cNvCxnSpPr>
          <p:nvPr/>
        </p:nvCxnSpPr>
        <p:spPr>
          <a:xfrm flipV="1">
            <a:off x="6659507" y="1997542"/>
            <a:ext cx="478588" cy="73280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F6AB650-861D-40B8-5CF4-411E7DC284C0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9568046" y="1993802"/>
            <a:ext cx="283388" cy="18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F32DF6C-B715-7AE8-060C-B9ED193CE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442" y="1242504"/>
            <a:ext cx="523113" cy="2720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2C1C9F-FE8C-8600-63C3-A4BCB6680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940" y="1561368"/>
            <a:ext cx="1528112" cy="2171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06A34C-C5A1-F079-6E6C-2070ABE727E4}"/>
              </a:ext>
            </a:extLst>
          </p:cNvPr>
          <p:cNvSpPr/>
          <p:nvPr/>
        </p:nvSpPr>
        <p:spPr>
          <a:xfrm>
            <a:off x="126174" y="3827202"/>
            <a:ext cx="11933745" cy="18256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64B0CFDF-D646-C683-2671-CAD3F5535122}"/>
              </a:ext>
            </a:extLst>
          </p:cNvPr>
          <p:cNvSpPr/>
          <p:nvPr/>
        </p:nvSpPr>
        <p:spPr>
          <a:xfrm>
            <a:off x="286700" y="3912375"/>
            <a:ext cx="5793232" cy="226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(b)  Selection-bias-free evaluation protocol</a:t>
            </a:r>
          </a:p>
        </p:txBody>
      </p:sp>
      <p:sp>
        <p:nvSpPr>
          <p:cNvPr id="8" name="Shape 17">
            <a:extLst>
              <a:ext uri="{FF2B5EF4-FFF2-40B4-BE49-F238E27FC236}">
                <a16:creationId xmlns:a16="http://schemas.microsoft.com/office/drawing/2014/main" id="{B0687C3D-EE87-D140-072B-0AD5046D2835}"/>
              </a:ext>
            </a:extLst>
          </p:cNvPr>
          <p:cNvSpPr/>
          <p:nvPr/>
        </p:nvSpPr>
        <p:spPr>
          <a:xfrm>
            <a:off x="324292" y="4310620"/>
            <a:ext cx="7798190" cy="512064"/>
          </a:xfrm>
          <a:prstGeom prst="roundRect">
            <a:avLst>
              <a:gd name="adj" fmla="val 7143"/>
            </a:avLst>
          </a:prstGeom>
          <a:solidFill>
            <a:srgbClr val="E0E0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BD56795B-9E69-3E0B-9D37-965BC74769B0}"/>
              </a:ext>
            </a:extLst>
          </p:cNvPr>
          <p:cNvSpPr/>
          <p:nvPr/>
        </p:nvSpPr>
        <p:spPr>
          <a:xfrm>
            <a:off x="324292" y="4310620"/>
            <a:ext cx="779819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Train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2020–2022</a:t>
            </a:r>
            <a:endParaRPr lang="en-US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03A88CB3-2ACC-08C3-955B-1629F2738D87}"/>
              </a:ext>
            </a:extLst>
          </p:cNvPr>
          <p:cNvSpPr/>
          <p:nvPr/>
        </p:nvSpPr>
        <p:spPr>
          <a:xfrm>
            <a:off x="6740711" y="4310620"/>
            <a:ext cx="2376714" cy="512064"/>
          </a:xfrm>
          <a:prstGeom prst="roundRect">
            <a:avLst>
              <a:gd name="adj" fmla="val 7143"/>
            </a:avLst>
          </a:prstGeom>
          <a:solidFill>
            <a:srgbClr val="FFE3C7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23A358D5-70E1-95E6-3ABD-5218A0CD0F9A}"/>
              </a:ext>
            </a:extLst>
          </p:cNvPr>
          <p:cNvSpPr/>
          <p:nvPr/>
        </p:nvSpPr>
        <p:spPr>
          <a:xfrm>
            <a:off x="6740711" y="4310620"/>
            <a:ext cx="2628603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2023</a:t>
            </a:r>
            <a:endParaRPr lang="en-US" sz="160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8F2CD6F7-6EA8-9E19-8D68-532B41BE5612}"/>
              </a:ext>
            </a:extLst>
          </p:cNvPr>
          <p:cNvSpPr/>
          <p:nvPr/>
        </p:nvSpPr>
        <p:spPr>
          <a:xfrm>
            <a:off x="9127071" y="4310620"/>
            <a:ext cx="280385" cy="512064"/>
          </a:xfrm>
          <a:prstGeom prst="roundRect">
            <a:avLst>
              <a:gd name="adj" fmla="val 15854"/>
            </a:avLst>
          </a:prstGeom>
          <a:solidFill>
            <a:srgbClr val="D3D3D3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A11B6683-3B1A-24AB-00C0-F623D5BBD1EF}"/>
              </a:ext>
            </a:extLst>
          </p:cNvPr>
          <p:cNvSpPr/>
          <p:nvPr/>
        </p:nvSpPr>
        <p:spPr>
          <a:xfrm>
            <a:off x="9417102" y="4310620"/>
            <a:ext cx="2469796" cy="512064"/>
          </a:xfrm>
          <a:prstGeom prst="roundRect">
            <a:avLst>
              <a:gd name="adj" fmla="val 7143"/>
            </a:avLst>
          </a:prstGeom>
          <a:solidFill>
            <a:srgbClr val="FFDBDB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78D8D2A9-4258-E1EA-7A77-71B539D94B32}"/>
              </a:ext>
            </a:extLst>
          </p:cNvPr>
          <p:cNvSpPr/>
          <p:nvPr/>
        </p:nvSpPr>
        <p:spPr>
          <a:xfrm>
            <a:off x="9723120" y="4310620"/>
            <a:ext cx="2039736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2024</a:t>
            </a:r>
            <a:endParaRPr lang="en-US" dirty="0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78A8630B-05EA-5518-3ECF-DC672BB249D4}"/>
              </a:ext>
            </a:extLst>
          </p:cNvPr>
          <p:cNvSpPr/>
          <p:nvPr/>
        </p:nvSpPr>
        <p:spPr>
          <a:xfrm>
            <a:off x="126175" y="4929994"/>
            <a:ext cx="11744954" cy="675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Note: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Fit on training; tune and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select model family + horizon on the validation window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; the choice is locked to an immutable file (</a:t>
            </a:r>
            <a:r>
              <a:rPr lang="en-US" sz="1400" dirty="0" err="1">
                <a:solidFill>
                  <a:srgbClr val="1F1F1F"/>
                </a:solidFill>
                <a:ea typeface="Consolas" pitchFamily="34" charset="-122"/>
                <a:cs typeface="Consolas" pitchFamily="34" charset="-120"/>
              </a:rPr>
              <a:t>selected_config.json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 year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reported once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— no re-selection.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69F72E8B-6FC3-EE58-A543-A59D122EE189}"/>
              </a:ext>
            </a:extLst>
          </p:cNvPr>
          <p:cNvSpPr/>
          <p:nvPr/>
        </p:nvSpPr>
        <p:spPr>
          <a:xfrm>
            <a:off x="169550" y="5876059"/>
            <a:ext cx="11589505" cy="520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Grid:  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8 feature sets × 7 models × 5 stocks × 3 horizons × 5 seeds = </a:t>
            </a: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4,200 task-specific runs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(plus 2 time-series foundation models). Reported as multi-seed mean ± std with paired Wilcoxon signed-rank tests.</a:t>
            </a:r>
            <a:endParaRPr lang="en-US" sz="16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3C579FA3-4DA9-E5A8-AA69-596205A1C7E8}"/>
              </a:ext>
            </a:extLst>
          </p:cNvPr>
          <p:cNvSpPr/>
          <p:nvPr/>
        </p:nvSpPr>
        <p:spPr>
          <a:xfrm>
            <a:off x="8388423" y="4004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83838"/>
                </a:solidFill>
                <a:ea typeface="Calibri" pitchFamily="34" charset="-122"/>
                <a:cs typeface="Calibri" pitchFamily="34" charset="-120"/>
              </a:rPr>
              <a:t>5-day embargo</a:t>
            </a:r>
            <a:endParaRPr lang="en-US" sz="16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F17CE63-D574-23FD-5F48-B6C4DB00FCCF}"/>
              </a:ext>
            </a:extLst>
          </p:cNvPr>
          <p:cNvSpPr/>
          <p:nvPr/>
        </p:nvSpPr>
        <p:spPr>
          <a:xfrm>
            <a:off x="286700" y="256537"/>
            <a:ext cx="6151880" cy="26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(a)  Multimodal pipeline under evaluation</a:t>
            </a:r>
            <a:endParaRPr lang="en-US" sz="24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086C618F-D36A-5665-1EC7-8545E619C551}"/>
              </a:ext>
            </a:extLst>
          </p:cNvPr>
          <p:cNvSpPr/>
          <p:nvPr/>
        </p:nvSpPr>
        <p:spPr>
          <a:xfrm flipV="1">
            <a:off x="8258048" y="3486418"/>
            <a:ext cx="0" cy="340784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5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6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the Study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Multimodal pipeline under evaluation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6E6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social,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OHLCV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43784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0F0F0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43784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FinBERT-Tone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+ 10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pairs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93208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FFEBD6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93208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Sₜ = α·News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(1−α)·Social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70:30 / learned-α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42632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DDBED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42632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families,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HPO: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SVM RF GB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LGBM LSTM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92056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FFE6E6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92056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long/short,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bps cost;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AUC,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MDD, win rate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69464" y="1664208"/>
            <a:ext cx="27432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18888" y="1664208"/>
            <a:ext cx="27432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8312" y="1664208"/>
            <a:ext cx="27432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317736" y="1664208"/>
            <a:ext cx="27432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3774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Selection-bias-free evaluation protocol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2889504"/>
            <a:ext cx="6416420" cy="512064"/>
          </a:xfrm>
          <a:prstGeom prst="roundRect">
            <a:avLst>
              <a:gd name="adj" fmla="val 7143"/>
            </a:avLst>
          </a:prstGeom>
          <a:solidFill>
            <a:srgbClr val="E0E0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889504"/>
            <a:ext cx="641642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2020–2022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10780" y="2889504"/>
            <a:ext cx="2162838" cy="512064"/>
          </a:xfrm>
          <a:prstGeom prst="roundRect">
            <a:avLst>
              <a:gd name="adj" fmla="val 7143"/>
            </a:avLst>
          </a:prstGeom>
          <a:solidFill>
            <a:srgbClr val="FFE3C7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10780" y="2889504"/>
            <a:ext cx="2162838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73619" y="2889504"/>
            <a:ext cx="230703" cy="512064"/>
          </a:xfrm>
          <a:prstGeom prst="roundRect">
            <a:avLst>
              <a:gd name="adj" fmla="val 15854"/>
            </a:avLst>
          </a:prstGeom>
          <a:solidFill>
            <a:srgbClr val="D3D3D3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04322" y="2889504"/>
            <a:ext cx="2162838" cy="512064"/>
          </a:xfrm>
          <a:prstGeom prst="roundRect">
            <a:avLst>
              <a:gd name="adj" fmla="val 7143"/>
            </a:avLst>
          </a:prstGeom>
          <a:solidFill>
            <a:srgbClr val="FFDBDB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04322" y="2889504"/>
            <a:ext cx="2162838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2024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11730" y="2651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embargo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92200" y="3401568"/>
            <a:ext cx="0" cy="292608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485741" y="3401568"/>
            <a:ext cx="0" cy="292608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91506" y="3694176"/>
            <a:ext cx="5911758" cy="969264"/>
          </a:xfrm>
          <a:prstGeom prst="roundRect">
            <a:avLst>
              <a:gd name="adj" fmla="val 4717"/>
            </a:avLst>
          </a:prstGeom>
          <a:solidFill>
            <a:srgbClr val="F2F2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01234" y="3694176"/>
            <a:ext cx="569230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training; tune and </a:t>
            </a: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model family + horizon on the validation window</a:t>
            </a: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choice is locked to an immutable file (</a:t>
            </a:r>
            <a:r>
              <a:rPr lang="en-US" sz="9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selected_config.json</a:t>
            </a: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404322" y="3694176"/>
            <a:ext cx="2162838" cy="969264"/>
          </a:xfrm>
          <a:prstGeom prst="roundRect">
            <a:avLst>
              <a:gd name="adj" fmla="val 4717"/>
            </a:avLst>
          </a:prstGeom>
          <a:solidFill>
            <a:srgbClr val="FFF2F2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495762" y="3694176"/>
            <a:ext cx="197995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year </a:t>
            </a: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once</a:t>
            </a: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re-selection.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" y="4919472"/>
            <a:ext cx="10972800" cy="841248"/>
          </a:xfrm>
          <a:prstGeom prst="roundRect">
            <a:avLst>
              <a:gd name="adj" fmla="val 5435"/>
            </a:avLst>
          </a:prstGeom>
          <a:solidFill>
            <a:srgbClr val="F4F4F4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4919472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 </a:t>
            </a: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 sets × 7 models × 5 stocks × 3 horizons × 5 seeds = </a:t>
            </a: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4,200 task-specific runs</a:t>
            </a: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(plus 2 time-series foundation models). Reported as multi-seed mean ± std with paired Wilcoxon signed-rank tests.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59436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 </a:t>
            </a:r>
            <a:r>
              <a:rPr lang="en-US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study. (a) A conventional multimodal stock-movement pipeline: news, social-media, and price data are turned into FinBERT-Tone sentiment and technical-indicator features, fused, fed to seven model families, and evaluated by a long/short backtest. (b) The selection-bias-free evaluation protocol that is the methodological contribution: a chronological train/validation/test split with a five-day embargo; all model-family and horizon selection locked to the 2023 validation window; and a 4,200-run multi-seed grid reported with paired significance tests. Every grid cell is one execution of pipeline (a).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1182</Words>
  <Application>Microsoft Macintosh PowerPoint</Application>
  <PresentationFormat>Widescreen</PresentationFormat>
  <Paragraphs>183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monospace</vt:lpstr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the Study</dc:title>
  <dc:subject>PptxGenJS Presentation</dc:subject>
  <dc:creator>ICDM submission</dc:creator>
  <cp:lastModifiedBy>HUANG Donghao</cp:lastModifiedBy>
  <cp:revision>7</cp:revision>
  <dcterms:created xsi:type="dcterms:W3CDTF">2026-05-23T00:47:55Z</dcterms:created>
  <dcterms:modified xsi:type="dcterms:W3CDTF">2026-05-23T19:13:51Z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SMU Classification: Restricted</vt:lpwstr>
  </property>
</Properties>
</file>